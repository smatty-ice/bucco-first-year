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645920"/>
            <a:ext cx="107286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b="1" spc="1200" kern="0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BUCCO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scientific field guide to his first year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Collie · Born Feb 18, 2026 · Home since Apr 27, 2026 · North Hills Pittsburgh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1645920" cy="36576"/>
          </a:xfrm>
          <a:prstGeom prst="rect">
            <a:avLst/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166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for Scott Smathers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532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 of Susan Garrett · Anchored in peer-reviewed science · 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Bucco is right now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· The cornerstone of the next year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2288" y="201168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D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2288" y="2011680"/>
            <a:ext cx="2606040" cy="109728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3728" y="23317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12-18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63728" y="3154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448" y="3611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weight range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52648" y="201168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D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52648" y="2011680"/>
            <a:ext cx="2606040" cy="109728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4088" y="23317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~880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444088" y="3154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kcal/day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89808" y="3611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meals · ~80% via training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33008" y="201168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D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33008" y="2011680"/>
            <a:ext cx="2606040" cy="109728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4448" y="23317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18-20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324448" y="3154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sleep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70168" y="3611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 ≈ 30% of total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13368" y="201168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D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13368" y="2011680"/>
            <a:ext cx="2606040" cy="109728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04808" y="23317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16w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9204808" y="3154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closes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50528" y="3611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socialization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475488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12-week brain runs different software than the 12-month brain.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1520" y="516636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the next 4 weeks compounds for the next 12 months.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43540"/>
          </a:solidFill>
          <a:ln w="12700">
            <a:solidFill>
              <a:srgbClr val="1435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Bucco's First Year · Scientific Highlights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60175" y="6583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R's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Susan Garrett's foundation priorities · the lens for every decision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737360"/>
            <a:ext cx="868680" cy="868680"/>
          </a:xfrm>
          <a:prstGeom prst="ellipse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01168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Relationship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11680" y="2194560"/>
            <a:ext cx="9448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most reinforcing thing in his world. Built daily, never commanded.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880360"/>
            <a:ext cx="868680" cy="868680"/>
          </a:xfrm>
          <a:prstGeom prst="ellipse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880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0116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11680" y="3337560"/>
            <a:ext cx="9448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when called, every time, regardless of distraction. Built in layers, never tested before it's ready.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4023360"/>
            <a:ext cx="868680" cy="868680"/>
          </a:xfrm>
          <a:prstGeom prst="ellipse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023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2011680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011680" y="4480560"/>
            <a:ext cx="9448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value back to the handler. The neurochemistry of engagement, not a circus trick.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5166360"/>
            <a:ext cx="868680" cy="868680"/>
          </a:xfrm>
          <a:prstGeom prst="ellipse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166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2011680" y="5166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Reinforcement Zone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011680" y="5623560"/>
            <a:ext cx="9448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pocket at your chosen side. Food delivered there. Loose-leash, heel, recall — all built on top.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43540"/>
          </a:solidFill>
          <a:ln w="12700">
            <a:solidFill>
              <a:srgbClr val="1435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Bucco's First Year · Scientific Highlights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60175" y="6583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socialization window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Scott &amp; Fuller, 1965 · Modern review 2022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743200"/>
            <a:ext cx="10362895" cy="0"/>
          </a:xfrm>
          <a:prstGeom prst="line">
            <a:avLst/>
          </a:prstGeom>
          <a:noFill/>
          <a:ln w="25400">
            <a:solidFill>
              <a:srgbClr val="5A66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423160"/>
            <a:ext cx="1903389" cy="640080"/>
          </a:xfrm>
          <a:prstGeom prst="rect">
            <a:avLst/>
          </a:prstGeom>
          <a:solidFill>
            <a:srgbClr val="1F4E5F">
              <a:alpha val="85000"/>
            </a:srgbClr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23160"/>
            <a:ext cx="190338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3–12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socialization window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17789" y="2423160"/>
            <a:ext cx="845951" cy="640080"/>
          </a:xfrm>
          <a:prstGeom prst="rect">
            <a:avLst/>
          </a:prstGeom>
          <a:solidFill>
            <a:srgbClr val="D97842">
              <a:alpha val="75000"/>
            </a:srgbClr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7789" y="2423160"/>
            <a:ext cx="8459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26349" y="2651760"/>
            <a:ext cx="182880" cy="182880"/>
          </a:xfrm>
          <a:prstGeom prst="ellipse">
            <a:avLst/>
          </a:prstGeom>
          <a:solidFill>
            <a:srgbClr val="D97842"/>
          </a:solidFill>
          <a:ln w="25400">
            <a:solidFill>
              <a:srgbClr val="FAF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03389" y="3017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BUCCO IS HERE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97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1783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70"/>
                </a:solidFill>
              </a:rPr>
              <a:t>WEEK 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637215" y="1783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70"/>
                </a:solidFill>
              </a:rPr>
              <a:t>WEEK 52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9448" y="411480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0888" y="42976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792328" y="5120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adult behavior is environment, not genetics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2328" y="5715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Scott &amp; Fuller, 1965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58488" y="411480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49928" y="42976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4541368" y="5120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new exposures recommended by week 16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41368" y="5715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AVMA consensus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07528" y="411480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98968" y="42976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wks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8290408" y="5120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Bucco has left in the primary window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90408" y="5715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May 12, 2026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43540"/>
          </a:solidFill>
          <a:ln w="12700">
            <a:solidFill>
              <a:srgbClr val="1435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Bucco's First Year · Scientific Highlights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60175" y="6583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 is when learning happens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Puppies don't need exercise. They need rest.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029200" cy="4023360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945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18-20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per day, at 12 weeks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 sleep ≈ 30% of total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48463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vs. ~10% in adult dogs.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Iotchev et al., Nature Sci Reports 2021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0" y="19202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means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17920" y="2468880"/>
            <a:ext cx="52120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Hyperactive puppy = under-slept puppy.</a:t>
            </a:r>
            <a:endParaRPr lang="en-US" sz="13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Cure is more crate time, not more walks.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 = memory consolidation.</a:t>
            </a:r>
            <a:endParaRPr lang="en-US" sz="13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5 min of Crate Games gets filed away while he sleeps.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doubles in weight wk 3–12.</a:t>
            </a:r>
            <a:endParaRPr lang="en-US" sz="13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Synaptic density peaks then prunes through year 1.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Pre-frontal cortex isn't done myelinating until 18–24 months.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43540"/>
          </a:solidFill>
          <a:ln w="12700">
            <a:solidFill>
              <a:srgbClr val="1435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Bucco's First Year · Scientific Highlights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60175" y="6583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Feeding · the real math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 × life-stage multiplier · adjust by body condition every 2 weeks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10362895" cy="1188720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74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kcal  =  70 × (kg)^0.75  ×  life-stage multiplier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0–4 mo: ×3.0    ·    4–12 mo: ×2.0    ·    Adult: ×1.4–1.6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Bucco's current age (12 weeks):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840480"/>
          <a:ext cx="10362895" cy="914400"/>
        </p:xfrm>
        <a:graphic>
          <a:graphicData uri="http://schemas.openxmlformats.org/drawingml/2006/table">
            <a:tbl>
              <a:tblPr/>
              <a:tblGrid>
                <a:gridCol w="2590724"/>
                <a:gridCol w="2590724"/>
                <a:gridCol w="2590724"/>
                <a:gridCol w="2590724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(×3)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lb (5.4 kg)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745 kcal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×/day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lb (6.8 kg)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880 kcal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×/day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lb (8.2 kg)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1015 kcal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×/day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97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delivered through training, not from a bowl. Body condition matters more than the scale.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43540"/>
          </a:solidFill>
          <a:ln w="12700">
            <a:solidFill>
              <a:srgbClr val="14354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Bucco's First Year · Scientific Highlights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60175" y="6583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single most important number on the bag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Hazewinkel et al., Utrecht 1985–1991 · still the standard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Calcium : Phosphorus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103628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 : 1   to   1.3 : 1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914400" y="39776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medium and large breed growth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4572000"/>
            <a:ext cx="50292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B33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4663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50749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 calcium 'for stronger bones'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adult food during growth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foods every month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4572000"/>
            <a:ext cx="50292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5A8F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4663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50749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Ca:P on the bag for ratio + values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AAFCO 'complete &amp; balanced for growth' statement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new foods over 7–10 days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43540"/>
          </a:solidFill>
          <a:ln w="12700">
            <a:solidFill>
              <a:srgbClr val="1435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Bucco's First Year · Scientific Highlights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60175" y="6583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only use the green quadrant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B.F. Skinner 1938 · Modern animal learning science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645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STIMULUS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26480" y="1645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STIMULUS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" y="219456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" y="420624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2011680"/>
            <a:ext cx="4114800" cy="1828800"/>
          </a:xfrm>
          <a:prstGeom prst="rect">
            <a:avLst/>
          </a:prstGeom>
          <a:solidFill>
            <a:srgbClr val="5A8F6B"/>
          </a:solidFill>
          <a:ln w="25400">
            <a:solidFill>
              <a:srgbClr val="5A8F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1031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+R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371600" y="2788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after sit  →  more sit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246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Dopamine · learning · relationship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0" y="2011680"/>
            <a:ext cx="4114800" cy="1828800"/>
          </a:xfrm>
          <a:prstGeom prst="rect">
            <a:avLst/>
          </a:prstGeom>
          <a:solidFill>
            <a:srgbClr val="F4E8D8"/>
          </a:solidFill>
          <a:ln w="12700">
            <a:solidFill>
              <a:srgbClr val="D5CD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21031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A66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-R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669280" y="2788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ear pinch when dog retrieves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0" y="3246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Cruel · unnecessary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023360"/>
            <a:ext cx="4114800" cy="1828800"/>
          </a:xfrm>
          <a:prstGeom prst="rect">
            <a:avLst/>
          </a:prstGeom>
          <a:solidFill>
            <a:srgbClr val="F4E8D8"/>
          </a:solidFill>
          <a:ln w="12700">
            <a:solidFill>
              <a:srgbClr val="D5CD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114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3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+P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371600" y="4800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Leash pop for pulling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5257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3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Cortisol · damages relationship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0" y="4023360"/>
            <a:ext cx="4114800" cy="1828800"/>
          </a:xfrm>
          <a:prstGeom prst="rect">
            <a:avLst/>
          </a:prstGeom>
          <a:solidFill>
            <a:srgbClr val="F4E8D8"/>
          </a:solidFill>
          <a:ln w="12700">
            <a:solidFill>
              <a:srgbClr val="D5CD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4114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A66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-P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669280" y="4800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away when puppy jumps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0" y="5257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adjunct · not primary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43540"/>
          </a:solidFill>
          <a:ln w="12700">
            <a:solidFill>
              <a:srgbClr val="1435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Bucco's First Year · Scientific Highlights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60175" y="6583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a Border Collie a Border Collie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Coppinger &amp; Coppinger · the predatory motor pattern, modified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2288" y="2194560"/>
            <a:ext cx="1371600" cy="1005840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2288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2288" y="2743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43888" y="2697480"/>
            <a:ext cx="274320" cy="0"/>
          </a:xfrm>
          <a:prstGeom prst="line">
            <a:avLst/>
          </a:prstGeom>
          <a:noFill/>
          <a:ln w="12700">
            <a:solidFill>
              <a:srgbClr val="5A66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18208" y="2194560"/>
            <a:ext cx="1371600" cy="1005840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18208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18208" y="2743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89808" y="2697480"/>
            <a:ext cx="274320" cy="0"/>
          </a:xfrm>
          <a:prstGeom prst="line">
            <a:avLst/>
          </a:prstGeom>
          <a:noFill/>
          <a:ln w="12700">
            <a:solidFill>
              <a:srgbClr val="5A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64128" y="2194560"/>
            <a:ext cx="1371600" cy="1005840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64128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64128" y="2743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35728" y="2697480"/>
            <a:ext cx="274320" cy="0"/>
          </a:xfrm>
          <a:prstGeom prst="line">
            <a:avLst/>
          </a:prstGeom>
          <a:noFill/>
          <a:ln w="12700">
            <a:solidFill>
              <a:srgbClr val="5A66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10048" y="2194560"/>
            <a:ext cx="1371600" cy="1005840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10048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10048" y="2743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81648" y="2697480"/>
            <a:ext cx="274320" cy="0"/>
          </a:xfrm>
          <a:prstGeom prst="line">
            <a:avLst/>
          </a:prstGeom>
          <a:noFill/>
          <a:ln w="12700">
            <a:solidFill>
              <a:srgbClr val="5A66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55968" y="2194560"/>
            <a:ext cx="1371600" cy="1005840"/>
          </a:xfrm>
          <a:prstGeom prst="rect">
            <a:avLst/>
          </a:prstGeom>
          <a:solidFill>
            <a:srgbClr val="C9C2B0"/>
          </a:solidFill>
          <a:ln w="12700">
            <a:solidFill>
              <a:srgbClr val="C9C2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55968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55968" y="2743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INHIBITED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427568" y="2697480"/>
            <a:ext cx="274320" cy="0"/>
          </a:xfrm>
          <a:prstGeom prst="line">
            <a:avLst/>
          </a:prstGeom>
          <a:noFill/>
          <a:ln w="12700">
            <a:solidFill>
              <a:srgbClr val="5A66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01888" y="2194560"/>
            <a:ext cx="1371600" cy="1005840"/>
          </a:xfrm>
          <a:prstGeom prst="rect">
            <a:avLst/>
          </a:prstGeom>
          <a:solidFill>
            <a:srgbClr val="C9C2B0"/>
          </a:solidFill>
          <a:ln w="12700">
            <a:solidFill>
              <a:srgbClr val="C9C2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01888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701888" y="2743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INHIBITED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073488" y="2697480"/>
            <a:ext cx="274320" cy="0"/>
          </a:xfrm>
          <a:prstGeom prst="line">
            <a:avLst/>
          </a:prstGeom>
          <a:noFill/>
          <a:ln w="12700">
            <a:solidFill>
              <a:srgbClr val="5A667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47808" y="2194560"/>
            <a:ext cx="1371600" cy="1005840"/>
          </a:xfrm>
          <a:prstGeom prst="rect">
            <a:avLst/>
          </a:prstGeom>
          <a:solidFill>
            <a:srgbClr val="C9C2B0"/>
          </a:solidFill>
          <a:ln w="12700">
            <a:solidFill>
              <a:srgbClr val="C9C2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47808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347808" y="2743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INHIBITED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14400" y="37490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neural reward sits in the eye-stalk-chase. Not the kill.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828800" y="4389120"/>
            <a:ext cx="8534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staring, freezing, slow-stalking moment is its own dopamine pulse. Bucco's brain runs this circuit constantly. Give him legitimate outlets (disc, agility, treibball, nosework) or it invents illegitimate ones.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43540"/>
          </a:solidFill>
          <a:ln w="12700">
            <a:solidFill>
              <a:srgbClr val="1435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Bucco's First Year · Scientific Highlights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60175" y="6583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B3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7A1F14"/>
          </a:solidFill>
          <a:ln w="12700">
            <a:solidFill>
              <a:srgbClr val="7A1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NEVER LIST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that, once done, are hard or impossible to undo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72865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0020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pointers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1600200"/>
            <a:ext cx="62480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once. The BC brain is the most vulnerable canine brain to light fixation. Single sessions have produced lifetime compulsions.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267712"/>
            <a:ext cx="1072865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13432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parks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2313432"/>
            <a:ext cx="62480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 get bullied or develop herding/control problems toward other dogs. Most BC reactivity stories start at a dog park.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980944"/>
            <a:ext cx="1072865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026664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food during growth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3026664"/>
            <a:ext cx="62480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calcium/phosphorus profile for medium-breed bones. Orthopedic problems at year 3.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694176"/>
            <a:ext cx="1072865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739896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Calcium / vitamin D / vitamin A supplements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3739896"/>
            <a:ext cx="62480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cause harm in excess. The food has what he needs; more is not better.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407408"/>
            <a:ext cx="1072865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453128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Cooked bones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4453128"/>
            <a:ext cx="62480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splinter. Perforate the esophagus, stomach, or intestine.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5120640"/>
            <a:ext cx="1072865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16636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food changes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5166360"/>
            <a:ext cx="62480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transition over 7–10 days. The microbiome needs time.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43540"/>
          </a:solidFill>
          <a:ln w="12700">
            <a:solidFill>
              <a:srgbClr val="1435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Bucco's First Year · Scientific Highlights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60175" y="6583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0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8-month trough is real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Asher et al., Royal Society Biology Letters 2020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5943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D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670"/>
                </a:solidFill>
              </a:rPr>
              <a:t>Trainability (relative)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08760" y="2994660"/>
            <a:ext cx="746760" cy="1943100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4983480"/>
            <a:ext cx="74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670"/>
                </a:solidFill>
              </a:rPr>
              <a:t>5 mo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46960" y="3108960"/>
            <a:ext cx="746760" cy="1828800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46960" y="4983480"/>
            <a:ext cx="74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670"/>
                </a:solidFill>
              </a:rPr>
              <a:t>6 mo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85160" y="3566160"/>
            <a:ext cx="746760" cy="1371600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5160" y="4983480"/>
            <a:ext cx="74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670"/>
                </a:solidFill>
              </a:rPr>
              <a:t>7 mo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23360" y="3909060"/>
            <a:ext cx="746760" cy="1028700"/>
          </a:xfrm>
          <a:prstGeom prst="rect">
            <a:avLst/>
          </a:prstGeom>
          <a:solidFill>
            <a:srgbClr val="B33A2A"/>
          </a:solidFill>
          <a:ln w="12700">
            <a:solidFill>
              <a:srgbClr val="B33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0" y="4983480"/>
            <a:ext cx="74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670"/>
                </a:solidFill>
              </a:rPr>
              <a:t>8 mo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61560" y="3680460"/>
            <a:ext cx="746760" cy="1257300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1560" y="4983480"/>
            <a:ext cx="74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670"/>
                </a:solidFill>
              </a:rPr>
              <a:t>9 mo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99760" y="3108960"/>
            <a:ext cx="746760" cy="1828800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99760" y="4983480"/>
            <a:ext cx="74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670"/>
                </a:solidFill>
              </a:rPr>
              <a:t>12 mo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2697480"/>
            <a:ext cx="1478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B3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DIP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i="1" dirty="0">
                <a:solidFill>
                  <a:srgbClr val="B3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(adolescent)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22376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looks like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23760" y="251460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Trainability dips with YOU, not strangers</a:t>
            </a:r>
            <a:endParaRPr lang="en-US" sz="12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Socially specific — he's testing the relationship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Hormones + asymmetric brain development</a:t>
            </a:r>
            <a:endParaRPr lang="en-US" sz="12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Amygdala fully online; prefrontal still wiring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fear period may overlap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Maintain, don't expand</a:t>
            </a:r>
            <a:endParaRPr lang="en-US" sz="12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ground on what works. New skills wait.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43540"/>
          </a:solidFill>
          <a:ln w="12700">
            <a:solidFill>
              <a:srgbClr val="1435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Bucco's First Year · Scientific Highlights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60175" y="6583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0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30-day plan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11 — June 11 · Three skills, deep work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728655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221992"/>
            <a:ext cx="777240" cy="777240"/>
          </a:xfrm>
          <a:prstGeom prst="ellipse">
            <a:avLst/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2199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965960" y="214884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Crate Games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965960" y="2606040"/>
            <a:ext cx="94484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crate is the best place in the world. Door opens = stay. Release cue = freedom. The foundation of every cued behavior.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337560"/>
            <a:ext cx="10728655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3547872"/>
            <a:ext cx="777240" cy="777240"/>
          </a:xfrm>
          <a:prstGeom prst="ellipse">
            <a:avLst/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5478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1965960" y="347472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Reinforcement Zone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965960" y="3931920"/>
            <a:ext cx="94484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side and commit. Food delivered into the zone, not from your hand to his face. Foundation of loose-leash, heel, recall.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663440"/>
            <a:ext cx="10728655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873752"/>
            <a:ext cx="777240" cy="777240"/>
          </a:xfrm>
          <a:prstGeom prst="ellipse">
            <a:avLst/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8737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1965960" y="480060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Restrained Recall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965960" y="5257800"/>
            <a:ext cx="94484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Nina holds. Scott runs and calls. Nina releases. Massive party at the finish. The emotional engine that powers recall later.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608076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name recognition · It's Yer Choice · cooperative-care pairing for the June 11 vet visit.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get professional help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intervention works. Late intervention is hard.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10362895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28800"/>
            <a:ext cx="109728" cy="594360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8288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/ sudden behavior change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1828800"/>
            <a:ext cx="48764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VETERINARIAN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514600"/>
            <a:ext cx="10362895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514600"/>
            <a:ext cx="109728" cy="594360"/>
          </a:xfrm>
          <a:prstGeom prst="rect">
            <a:avLst/>
          </a:prstGeom>
          <a:solidFill>
            <a:srgbClr val="5C8B8E"/>
          </a:solidFill>
          <a:ln w="12700">
            <a:solidFill>
              <a:srgbClr val="5C8B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5146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Mild, recent behavioral issue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514600"/>
            <a:ext cx="48764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KPA-CTP or CPDT-KA trainer (+R only)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200400"/>
            <a:ext cx="10362895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200400"/>
            <a:ext cx="109728" cy="594360"/>
          </a:xfrm>
          <a:prstGeom prst="rect">
            <a:avLst/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2004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guarding, reactivity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3200400"/>
            <a:ext cx="48764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trainer NOW — don't wait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3886200"/>
            <a:ext cx="10362895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886200"/>
            <a:ext cx="109728" cy="594360"/>
          </a:xfrm>
          <a:prstGeom prst="rect">
            <a:avLst/>
          </a:prstGeom>
          <a:solidFill>
            <a:srgbClr val="B33A2A"/>
          </a:solidFill>
          <a:ln w="12700">
            <a:solidFill>
              <a:srgbClr val="B33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38862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Compulsion (light, shadow, tail)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3886200"/>
            <a:ext cx="48764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VETERINARY BEHAVIORIST (DACVB) immediately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4572000"/>
            <a:ext cx="10362895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572000"/>
            <a:ext cx="109728" cy="594360"/>
          </a:xfrm>
          <a:prstGeom prst="rect">
            <a:avLst/>
          </a:prstGeom>
          <a:solidFill>
            <a:srgbClr val="B33A2A"/>
          </a:solidFill>
          <a:ln w="12700">
            <a:solidFill>
              <a:srgbClr val="B33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45720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 incident with intent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4572000"/>
            <a:ext cx="48764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VETERINARY BEHAVIORIST + document everything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14400" y="5257800"/>
            <a:ext cx="10362895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5257800"/>
            <a:ext cx="109728" cy="594360"/>
          </a:xfrm>
          <a:prstGeom prst="rect">
            <a:avLst/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8720" y="52578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noise phobia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5257800"/>
            <a:ext cx="48764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 for meds + DACVB or trainer for desensitization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on the front end. Expensive on the back end. The math is unambiguous.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43540"/>
          </a:solidFill>
          <a:ln w="12700">
            <a:solidFill>
              <a:srgbClr val="1435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Bucco's First Year · Scientific Highlights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60175" y="6583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0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Bucco's capable of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Chaser, the Border Collie who knew 1,022 nouns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5486400" cy="4023360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1,022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nouns learned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Pilley &amp; Reid, Behavioural Processes 2011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48463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stopped at 1,022 because Pilley ran out of time. Not because Chaser did.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means for Bucco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0" y="26060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ceiling on what he can learn isn't brain limit — it's your teaching-time limit.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are real cues. He's tracking them whether you mean to teach them or not.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 training, named objects, scent work — these aren't extras. They're his sustainable enrichment.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 of mental work ≈ 2 hr of walking, for tiredness and behavior.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43540"/>
          </a:solidFill>
          <a:ln w="12700">
            <a:solidFill>
              <a:srgbClr val="1435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Bucco's First Year · Scientific Highlights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60175" y="6583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0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sentence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362895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more interesting than the environment.</a:t>
            </a:r>
            <a:endParaRPr lang="en-US" sz="2800" dirty="0"/>
          </a:p>
          <a:p>
            <a:pPr algn="ctr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Reinforce the behavior you want.</a:t>
            </a:r>
            <a:endParaRPr lang="en-US" sz="2800" dirty="0"/>
          </a:p>
          <a:p>
            <a:pPr algn="ctr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 the environment to prevent rehearsal of what you don't.</a:t>
            </a:r>
            <a:endParaRPr lang="en-US" sz="2800" dirty="0"/>
          </a:p>
          <a:p>
            <a:pPr algn="ctr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Remember that what you grow is what you get.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181448" y="5303520"/>
            <a:ext cx="1828800" cy="36576"/>
          </a:xfrm>
          <a:prstGeom prst="rect">
            <a:avLst/>
          </a:prstGeom>
          <a:solidFill>
            <a:srgbClr val="D97842"/>
          </a:solidFill>
          <a:ln w="12700">
            <a:solidFill>
              <a:srgbClr val="D97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48640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4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else is detail.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Bucco · first year · spring 2026 — winter 2027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Bucco's First Year — Highlights</dc:title>
  <dc:subject>PptxGenJS Presentation</dc:subject>
  <dc:creator>Compiled for Scott Smathers</dc:creator>
  <cp:lastModifiedBy>Compiled for Scott Smathers</cp:lastModifiedBy>
  <cp:revision>1</cp:revision>
  <dcterms:created xsi:type="dcterms:W3CDTF">2026-05-13T01:07:42Z</dcterms:created>
  <dcterms:modified xsi:type="dcterms:W3CDTF">2026-05-13T01:07:42Z</dcterms:modified>
</cp:coreProperties>
</file>